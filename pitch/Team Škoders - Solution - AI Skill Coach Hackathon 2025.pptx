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a7d27c762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a7d27c762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a7d27c7624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a7d27c7624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a7d27c7624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a7d27c7624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a7d27c7624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a7d27c7624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a7d27c7624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a7d27c7624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a7d27c7624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a7d27c7624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a7d27c7624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a7d27c7624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a7d27c7624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a7d27c762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a7d27c7624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a7d27c7624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a7d27c7624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a7d27c7624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a7d27c7624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a7d27c7624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F3A30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Team Škoders</a:t>
            </a:r>
            <a:endParaRPr b="1">
              <a:solidFill>
                <a:srgbClr val="73F7AB"/>
              </a:solidFill>
            </a:endParaRPr>
          </a:p>
        </p:txBody>
      </p:sp>
      <p:pic>
        <p:nvPicPr>
          <p:cNvPr id="55" name="Google Shape;55;p13" title="1757359284252-modifie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2675" y="1771125"/>
            <a:ext cx="1232950" cy="1232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1724880898712-modifie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6575" y="1771137"/>
            <a:ext cx="1232950" cy="1232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fgarcia--modified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60475" y="1796088"/>
            <a:ext cx="1232950" cy="123295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 txBox="1"/>
          <p:nvPr/>
        </p:nvSpPr>
        <p:spPr>
          <a:xfrm>
            <a:off x="1172650" y="3147000"/>
            <a:ext cx="1233000" cy="4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73F7AB"/>
                </a:solidFill>
              </a:rPr>
              <a:t>Daniel Ilin</a:t>
            </a:r>
            <a:endParaRPr sz="1800">
              <a:solidFill>
                <a:srgbClr val="73F7AB"/>
              </a:solidFill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3523925" y="3096750"/>
            <a:ext cx="1823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73F7AB"/>
                </a:solidFill>
              </a:rPr>
              <a:t>Marian Kijewski</a:t>
            </a:r>
            <a:endParaRPr sz="1800">
              <a:solidFill>
                <a:srgbClr val="73F7AB"/>
              </a:solidFill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5660550" y="3147000"/>
            <a:ext cx="26328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73F7AB"/>
                </a:solidFill>
              </a:rPr>
              <a:t>Francisco José</a:t>
            </a:r>
            <a:br>
              <a:rPr lang="en-GB" sz="1800">
                <a:solidFill>
                  <a:srgbClr val="73F7AB"/>
                </a:solidFill>
              </a:rPr>
            </a:br>
            <a:r>
              <a:rPr lang="en-GB" sz="1800">
                <a:solidFill>
                  <a:srgbClr val="73F7AB"/>
                </a:solidFill>
              </a:rPr>
              <a:t>Garcia De Freitas</a:t>
            </a:r>
            <a:endParaRPr sz="1800"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Problem</a:t>
            </a:r>
            <a:endParaRPr b="1">
              <a:solidFill>
                <a:srgbClr val="73F7AB"/>
              </a:solidFill>
            </a:endParaRPr>
          </a:p>
        </p:txBody>
      </p:sp>
      <p:sp>
        <p:nvSpPr>
          <p:cNvPr id="66" name="Google Shape;66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lang="en-GB">
                <a:solidFill>
                  <a:srgbClr val="73F7AB"/>
                </a:solidFill>
              </a:rPr>
              <a:t>❓ How do employees know what skills they need?</a:t>
            </a:r>
            <a:endParaRPr>
              <a:solidFill>
                <a:srgbClr val="73F7AB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lang="en-GB">
                <a:solidFill>
                  <a:srgbClr val="73F7AB"/>
                </a:solidFill>
              </a:rPr>
              <a:t>⏰ How long will it take to become ready?</a:t>
            </a:r>
            <a:endParaRPr>
              <a:solidFill>
                <a:srgbClr val="73F7AB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lang="en-GB">
                <a:solidFill>
                  <a:srgbClr val="73F7AB"/>
                </a:solidFill>
              </a:rPr>
              <a:t>📚 What courses should they take?</a:t>
            </a:r>
            <a:endParaRPr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–&gt; AI-Powered Personalized Learning Paths</a:t>
            </a:r>
            <a:endParaRPr b="1"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Solution</a:t>
            </a:r>
            <a:endParaRPr b="1">
              <a:solidFill>
                <a:srgbClr val="73F7AB"/>
              </a:solidFill>
            </a:endParaRPr>
          </a:p>
        </p:txBody>
      </p:sp>
      <p:sp>
        <p:nvSpPr>
          <p:cNvPr id="72" name="Google Shape;72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b="1" lang="en-GB">
                <a:solidFill>
                  <a:srgbClr val="73F7AB"/>
                </a:solidFill>
              </a:rPr>
              <a:t>Analyze</a:t>
            </a:r>
            <a:r>
              <a:rPr lang="en-GB">
                <a:solidFill>
                  <a:srgbClr val="73F7AB"/>
                </a:solidFill>
              </a:rPr>
              <a:t>			Employee skills vs. target role requirements</a:t>
            </a:r>
            <a:br>
              <a:rPr lang="en-GB">
                <a:solidFill>
                  <a:srgbClr val="73F7AB"/>
                </a:solidFill>
              </a:rPr>
            </a:br>
            <a:endParaRPr>
              <a:solidFill>
                <a:srgbClr val="73F7AB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b="1" lang="en-GB">
                <a:solidFill>
                  <a:srgbClr val="73F7AB"/>
                </a:solidFill>
              </a:rPr>
              <a:t>Identify</a:t>
            </a:r>
            <a:r>
              <a:rPr lang="en-GB">
                <a:solidFill>
                  <a:srgbClr val="73F7AB"/>
                </a:solidFill>
              </a:rPr>
              <a:t>			Skill and qualification gaps</a:t>
            </a:r>
            <a:br>
              <a:rPr lang="en-GB">
                <a:solidFill>
                  <a:srgbClr val="73F7AB"/>
                </a:solidFill>
              </a:rPr>
            </a:br>
            <a:endParaRPr>
              <a:solidFill>
                <a:srgbClr val="73F7AB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b="1" lang="en-GB">
                <a:solidFill>
                  <a:srgbClr val="73F7AB"/>
                </a:solidFill>
              </a:rPr>
              <a:t>Recommend</a:t>
            </a:r>
            <a:r>
              <a:rPr lang="en-GB">
                <a:solidFill>
                  <a:srgbClr val="73F7AB"/>
                </a:solidFill>
              </a:rPr>
              <a:t> 	AI-generated personalized learning plan</a:t>
            </a:r>
            <a:br>
              <a:rPr lang="en-GB">
                <a:solidFill>
                  <a:srgbClr val="73F7AB"/>
                </a:solidFill>
              </a:rPr>
            </a:br>
            <a:r>
              <a:rPr lang="en-GB">
                <a:solidFill>
                  <a:srgbClr val="73F7AB"/>
                </a:solidFill>
              </a:rPr>
              <a:t>				+ Time to Readiness</a:t>
            </a:r>
            <a:endParaRPr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How?</a:t>
            </a:r>
            <a:endParaRPr b="1">
              <a:solidFill>
                <a:srgbClr val="73F7AB"/>
              </a:solidFill>
            </a:endParaRPr>
          </a:p>
        </p:txBody>
      </p:sp>
      <p:sp>
        <p:nvSpPr>
          <p:cNvPr id="78" name="Google Shape;78;p16"/>
          <p:cNvSpPr txBox="1"/>
          <p:nvPr>
            <p:ph idx="1" type="body"/>
          </p:nvPr>
        </p:nvSpPr>
        <p:spPr>
          <a:xfrm>
            <a:off x="311700" y="1152475"/>
            <a:ext cx="4458300" cy="296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en-GB" sz="1600">
                <a:solidFill>
                  <a:srgbClr val="73F7AB"/>
                </a:solidFill>
              </a:rPr>
            </a:br>
            <a:r>
              <a:rPr b="1" lang="en-GB" sz="1600">
                <a:solidFill>
                  <a:srgbClr val="73F7AB"/>
                </a:solidFill>
              </a:rPr>
              <a:t>Data Sources:</a:t>
            </a:r>
            <a:br>
              <a:rPr lang="en-GB" sz="1600">
                <a:solidFill>
                  <a:srgbClr val="73F7AB"/>
                </a:solidFill>
              </a:rPr>
            </a:b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>
                <a:solidFill>
                  <a:srgbClr val="73F7AB"/>
                </a:solidFill>
              </a:rPr>
              <a:t>📊 ERP System (215 employees)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>
                <a:solidFill>
                  <a:srgbClr val="73F7AB"/>
                </a:solidFill>
              </a:rPr>
              <a:t>📚 Course Attendance (796,011+ records)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>
                <a:solidFill>
                  <a:srgbClr val="73F7AB"/>
                </a:solidFill>
              </a:rPr>
              <a:t>🎓 Qualifications (206 employees)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>
                <a:solidFill>
                  <a:srgbClr val="73F7AB"/>
                </a:solidFill>
              </a:rPr>
              <a:t>📖 Degreed Learning Platform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>
                <a:solidFill>
                  <a:srgbClr val="73F7AB"/>
                </a:solidFill>
              </a:rPr>
              <a:t>🎯 Role Requirements (186 positions)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rgbClr val="73F7AB"/>
              </a:solidFill>
            </a:endParaRPr>
          </a:p>
        </p:txBody>
      </p:sp>
      <p:sp>
        <p:nvSpPr>
          <p:cNvPr id="79" name="Google Shape;79;p16"/>
          <p:cNvSpPr txBox="1"/>
          <p:nvPr>
            <p:ph idx="1" type="body"/>
          </p:nvPr>
        </p:nvSpPr>
        <p:spPr>
          <a:xfrm>
            <a:off x="4572000" y="1152475"/>
            <a:ext cx="4458300" cy="32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GB" sz="1600">
                <a:solidFill>
                  <a:srgbClr val="73F7AB"/>
                </a:solidFill>
              </a:rPr>
            </a:br>
            <a:r>
              <a:rPr b="1" lang="en-GB" sz="1600">
                <a:solidFill>
                  <a:srgbClr val="73F7AB"/>
                </a:solidFill>
              </a:rPr>
              <a:t>AI:</a:t>
            </a:r>
            <a:br>
              <a:rPr lang="en-GB" sz="1600">
                <a:solidFill>
                  <a:srgbClr val="73F7AB"/>
                </a:solidFill>
              </a:rPr>
            </a:b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>
                <a:solidFill>
                  <a:srgbClr val="73F7AB"/>
                </a:solidFill>
              </a:rPr>
              <a:t>🤖 Azure GPT-4.1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>
                <a:solidFill>
                  <a:srgbClr val="73F7AB"/>
                </a:solidFill>
              </a:rPr>
              <a:t>🧠 Natural language understanding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73F7AB"/>
                </a:solidFill>
              </a:rPr>
              <a:t>📈 Intelligent course recommendations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Win-Win-Win</a:t>
            </a:r>
            <a:endParaRPr b="1">
              <a:solidFill>
                <a:srgbClr val="73F7AB"/>
              </a:solidFill>
            </a:endParaRPr>
          </a:p>
        </p:txBody>
      </p:sp>
      <p:sp>
        <p:nvSpPr>
          <p:cNvPr id="85" name="Google Shape;85;p17"/>
          <p:cNvSpPr txBox="1"/>
          <p:nvPr>
            <p:ph idx="1" type="body"/>
          </p:nvPr>
        </p:nvSpPr>
        <p:spPr>
          <a:xfrm>
            <a:off x="311700" y="1152475"/>
            <a:ext cx="4211400" cy="377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en-GB" sz="1500">
                <a:solidFill>
                  <a:srgbClr val="73F7AB"/>
                </a:solidFill>
              </a:rPr>
            </a:br>
            <a:r>
              <a:rPr b="1" lang="en-GB" sz="1500">
                <a:solidFill>
                  <a:srgbClr val="73F7AB"/>
                </a:solidFill>
              </a:rPr>
              <a:t>✅ For Employees:</a:t>
            </a:r>
            <a:endParaRPr b="1"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Clear career path</a:t>
            </a:r>
            <a:endParaRPr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Personalized learning recommendation</a:t>
            </a:r>
            <a:r>
              <a:rPr lang="en-GB" sz="1500">
                <a:solidFill>
                  <a:srgbClr val="73F7AB"/>
                </a:solidFill>
              </a:rPr>
              <a:t>s</a:t>
            </a:r>
            <a:endParaRPr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Time-to-readiness estimate</a:t>
            </a:r>
            <a:r>
              <a:rPr lang="en-GB" sz="1500">
                <a:solidFill>
                  <a:srgbClr val="73F7AB"/>
                </a:solidFill>
              </a:rPr>
              <a:t>s</a:t>
            </a:r>
            <a:endParaRPr sz="15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1500">
                <a:solidFill>
                  <a:srgbClr val="73F7AB"/>
                </a:solidFill>
              </a:rPr>
            </a:br>
            <a:r>
              <a:rPr b="1" lang="en-GB" sz="1500">
                <a:solidFill>
                  <a:srgbClr val="73F7AB"/>
                </a:solidFill>
              </a:rPr>
              <a:t>✅ For HR/Managers:</a:t>
            </a:r>
            <a:endParaRPr b="1"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Data-driven talent development</a:t>
            </a:r>
            <a:endParaRPr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Scalable to 1000+ employees</a:t>
            </a:r>
            <a:endParaRPr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Real-time skill gap visibility</a:t>
            </a:r>
            <a:endParaRPr sz="15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rgbClr val="73F7AB"/>
              </a:solidFill>
            </a:endParaRPr>
          </a:p>
        </p:txBody>
      </p:sp>
      <p:sp>
        <p:nvSpPr>
          <p:cNvPr id="86" name="Google Shape;86;p17"/>
          <p:cNvSpPr txBox="1"/>
          <p:nvPr>
            <p:ph idx="1" type="body"/>
          </p:nvPr>
        </p:nvSpPr>
        <p:spPr>
          <a:xfrm>
            <a:off x="4572000" y="1152475"/>
            <a:ext cx="4458300" cy="32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b="1" lang="en-GB" sz="1500">
                <a:solidFill>
                  <a:srgbClr val="73F7AB"/>
                </a:solidFill>
              </a:rPr>
            </a:br>
            <a:r>
              <a:rPr b="1" lang="en-GB" sz="1500">
                <a:solidFill>
                  <a:srgbClr val="73F7AB"/>
                </a:solidFill>
              </a:rPr>
              <a:t>✅ For </a:t>
            </a:r>
            <a:r>
              <a:rPr b="1" lang="en-GB" sz="1500">
                <a:solidFill>
                  <a:srgbClr val="73F7AB"/>
                </a:solidFill>
              </a:rPr>
              <a:t>Organization</a:t>
            </a:r>
            <a:r>
              <a:rPr b="1" lang="en-GB" sz="1500">
                <a:solidFill>
                  <a:srgbClr val="73F7AB"/>
                </a:solidFill>
              </a:rPr>
              <a:t>:</a:t>
            </a:r>
            <a:endParaRPr b="1"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Improved employee retentio</a:t>
            </a:r>
            <a:r>
              <a:rPr lang="en-GB" sz="1500">
                <a:solidFill>
                  <a:srgbClr val="73F7AB"/>
                </a:solidFill>
              </a:rPr>
              <a:t>n</a:t>
            </a:r>
            <a:endParaRPr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Faster skill development</a:t>
            </a:r>
            <a:endParaRPr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Better resource planning</a:t>
            </a:r>
            <a:endParaRPr sz="15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Security</a:t>
            </a:r>
            <a:endParaRPr b="1">
              <a:solidFill>
                <a:srgbClr val="73F7AB"/>
              </a:solidFill>
            </a:endParaRPr>
          </a:p>
        </p:txBody>
      </p:sp>
      <p:sp>
        <p:nvSpPr>
          <p:cNvPr id="92" name="Google Shape;92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b="1" lang="en-GB">
                <a:solidFill>
                  <a:srgbClr val="73F7AB"/>
                </a:solidFill>
              </a:rPr>
              <a:t>Meets modern security best practices</a:t>
            </a:r>
            <a:br>
              <a:rPr b="1" lang="en-GB">
                <a:solidFill>
                  <a:srgbClr val="73F7AB"/>
                </a:solidFill>
              </a:rPr>
            </a:br>
            <a:endParaRPr b="1">
              <a:solidFill>
                <a:srgbClr val="73F7AB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b="1" lang="en-GB">
                <a:solidFill>
                  <a:srgbClr val="73F7AB"/>
                </a:solidFill>
              </a:rPr>
              <a:t>Ready for enterprise security standards</a:t>
            </a:r>
            <a:br>
              <a:rPr b="1" lang="en-GB">
                <a:solidFill>
                  <a:srgbClr val="73F7AB"/>
                </a:solidFill>
              </a:rPr>
            </a:br>
            <a:r>
              <a:rPr b="1" lang="en-GB">
                <a:solidFill>
                  <a:srgbClr val="73F7AB"/>
                </a:solidFill>
              </a:rPr>
              <a:t>-&gt; Can be deployed safely in Škoda's cloud</a:t>
            </a:r>
            <a:endParaRPr b="1"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8100" y="1762250"/>
            <a:ext cx="3887816" cy="8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2548950" y="3068475"/>
            <a:ext cx="4431900" cy="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73F7AB"/>
                </a:solidFill>
              </a:rPr>
              <a:t>1-Click-Install: `docker-compose up`</a:t>
            </a:r>
            <a:endParaRPr b="1" sz="1800"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0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DEMO</a:t>
            </a:r>
            <a:endParaRPr b="1"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1" title="Screenshot 2025-11-21 at 10.47.5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1538" y="152400"/>
            <a:ext cx="7180913" cy="4838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2" title="Screenshot 2025-11-21 at 10.48.0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5150" y="152400"/>
            <a:ext cx="6853700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3" title="Screenshot 2025-11-21 at 10.48.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1563" y="152400"/>
            <a:ext cx="6800877" cy="4838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