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7d27c76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7d27c76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7d27c762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7d27c762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7d27c762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7d27c762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7d27c762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7d27c762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d27c762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7d27c762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7d27c762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7d27c762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7d27c762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7d27c762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7d27c762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7d27c762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F3A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Team Škoders</a:t>
            </a:r>
            <a:endParaRPr b="1">
              <a:solidFill>
                <a:srgbClr val="73F7AB"/>
              </a:solidFill>
            </a:endParaRPr>
          </a:p>
        </p:txBody>
      </p:sp>
      <p:pic>
        <p:nvPicPr>
          <p:cNvPr id="55" name="Google Shape;55;p13" title="1757359284252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75" y="1771125"/>
            <a:ext cx="1232950" cy="123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1724880898712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6575" y="1771137"/>
            <a:ext cx="1232950" cy="123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fgarcia--modifie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0475" y="1796088"/>
            <a:ext cx="1232950" cy="12329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1172650" y="3147000"/>
            <a:ext cx="1233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3F7AB"/>
                </a:solidFill>
              </a:rPr>
              <a:t>Daniel Ilin</a:t>
            </a:r>
            <a:endParaRPr sz="1800">
              <a:solidFill>
                <a:srgbClr val="73F7AB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523925" y="3096750"/>
            <a:ext cx="182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3F7AB"/>
                </a:solidFill>
              </a:rPr>
              <a:t>Marian Kijewski</a:t>
            </a:r>
            <a:endParaRPr sz="1800">
              <a:solidFill>
                <a:srgbClr val="73F7AB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660550" y="3147000"/>
            <a:ext cx="2632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73F7AB"/>
                </a:solidFill>
              </a:rPr>
              <a:t>Francisco José</a:t>
            </a:r>
            <a:br>
              <a:rPr lang="en-GB" sz="1800">
                <a:solidFill>
                  <a:srgbClr val="73F7AB"/>
                </a:solidFill>
              </a:rPr>
            </a:br>
            <a:r>
              <a:rPr lang="en-GB" sz="1800">
                <a:solidFill>
                  <a:srgbClr val="73F7AB"/>
                </a:solidFill>
              </a:rPr>
              <a:t>Garcia De Freitas</a:t>
            </a:r>
            <a:endParaRPr sz="1800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Problem</a:t>
            </a:r>
            <a:endParaRPr b="1">
              <a:solidFill>
                <a:srgbClr val="73F7AB"/>
              </a:solidFill>
            </a:endParaRPr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lang="en-GB">
                <a:solidFill>
                  <a:srgbClr val="73F7AB"/>
                </a:solidFill>
              </a:rPr>
              <a:t>❓ How do employees know what skills they need?</a:t>
            </a:r>
            <a:endParaRPr>
              <a:solidFill>
                <a:srgbClr val="73F7A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lang="en-GB">
                <a:solidFill>
                  <a:srgbClr val="73F7AB"/>
                </a:solidFill>
              </a:rPr>
              <a:t>⏰ How long will it take to become ready?</a:t>
            </a:r>
            <a:endParaRPr>
              <a:solidFill>
                <a:srgbClr val="73F7A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lang="en-GB">
                <a:solidFill>
                  <a:srgbClr val="73F7AB"/>
                </a:solidFill>
              </a:rPr>
              <a:t>📚 What courses should they take?</a:t>
            </a:r>
            <a:endParaRPr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–&gt; AI-Powered Personalized Learning Paths</a:t>
            </a:r>
            <a:endParaRPr b="1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Solution</a:t>
            </a:r>
            <a:endParaRPr b="1">
              <a:solidFill>
                <a:srgbClr val="73F7AB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b="1" lang="en-GB">
                <a:solidFill>
                  <a:srgbClr val="73F7AB"/>
                </a:solidFill>
              </a:rPr>
              <a:t>Analyze</a:t>
            </a:r>
            <a:r>
              <a:rPr lang="en-GB">
                <a:solidFill>
                  <a:srgbClr val="73F7AB"/>
                </a:solidFill>
              </a:rPr>
              <a:t>			Employee skills vs. target role requirements</a:t>
            </a:r>
            <a:endParaRPr>
              <a:solidFill>
                <a:srgbClr val="73F7A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b="1" lang="en-GB">
                <a:solidFill>
                  <a:srgbClr val="73F7AB"/>
                </a:solidFill>
              </a:rPr>
              <a:t>Identify</a:t>
            </a:r>
            <a:r>
              <a:rPr lang="en-GB">
                <a:solidFill>
                  <a:srgbClr val="73F7AB"/>
                </a:solidFill>
              </a:rPr>
              <a:t>			Skill and qualification gaps</a:t>
            </a:r>
            <a:endParaRPr>
              <a:solidFill>
                <a:srgbClr val="73F7A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b="1" lang="en-GB">
                <a:solidFill>
                  <a:srgbClr val="73F7AB"/>
                </a:solidFill>
              </a:rPr>
              <a:t>Recommend</a:t>
            </a:r>
            <a:r>
              <a:rPr lang="en-GB">
                <a:solidFill>
                  <a:srgbClr val="73F7AB"/>
                </a:solidFill>
              </a:rPr>
              <a:t> 	AI-generated personalized learning plan</a:t>
            </a:r>
            <a:br>
              <a:rPr lang="en-GB">
                <a:solidFill>
                  <a:srgbClr val="73F7AB"/>
                </a:solidFill>
              </a:rPr>
            </a:br>
            <a:r>
              <a:rPr lang="en-GB">
                <a:solidFill>
                  <a:srgbClr val="73F7AB"/>
                </a:solidFill>
              </a:rPr>
              <a:t>				+ Time to Readiness</a:t>
            </a:r>
            <a:endParaRPr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How?</a:t>
            </a:r>
            <a:endParaRPr b="1">
              <a:solidFill>
                <a:srgbClr val="73F7AB"/>
              </a:solidFill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4458300" cy="29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600">
                <a:solidFill>
                  <a:srgbClr val="73F7AB"/>
                </a:solidFill>
              </a:rPr>
            </a:br>
            <a:r>
              <a:rPr b="1" lang="en-GB" sz="1600">
                <a:solidFill>
                  <a:srgbClr val="73F7AB"/>
                </a:solidFill>
              </a:rPr>
              <a:t>Data Sources:</a:t>
            </a:r>
            <a:br>
              <a:rPr lang="en-GB" sz="1600">
                <a:solidFill>
                  <a:srgbClr val="73F7AB"/>
                </a:solidFill>
              </a:rPr>
            </a:b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📊 ERP System (215 employees)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📚 Course Attendance (796,011+ records)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🎓 Qualifications (206 employees)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📖 Degreed Learning Platform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🎯 Role Requirements (186 positions)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73F7AB"/>
              </a:solidFill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4572000" y="1152475"/>
            <a:ext cx="4458300" cy="32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>
                <a:solidFill>
                  <a:srgbClr val="73F7AB"/>
                </a:solidFill>
              </a:rPr>
            </a:br>
            <a:r>
              <a:rPr b="1" lang="en-GB" sz="1600">
                <a:solidFill>
                  <a:srgbClr val="73F7AB"/>
                </a:solidFill>
              </a:rPr>
              <a:t>AI:</a:t>
            </a:r>
            <a:br>
              <a:rPr lang="en-GB" sz="1600">
                <a:solidFill>
                  <a:srgbClr val="73F7AB"/>
                </a:solidFill>
              </a:rPr>
            </a:b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🤖 Azure GPT-4.1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73F7AB"/>
                </a:solidFill>
              </a:rPr>
              <a:t>🧠 Natural language understanding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73F7AB"/>
                </a:solidFill>
              </a:rPr>
              <a:t>📈 Intelligent course recommendations</a:t>
            </a:r>
            <a:endParaRPr sz="16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Win-Win-Win</a:t>
            </a:r>
            <a:endParaRPr b="1">
              <a:solidFill>
                <a:srgbClr val="73F7AB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4211400" cy="377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500">
                <a:solidFill>
                  <a:srgbClr val="73F7AB"/>
                </a:solidFill>
              </a:rPr>
            </a:br>
            <a:r>
              <a:rPr b="1" lang="en-GB" sz="1500">
                <a:solidFill>
                  <a:srgbClr val="73F7AB"/>
                </a:solidFill>
              </a:rPr>
              <a:t>✅ For Employees:</a:t>
            </a:r>
            <a:endParaRPr b="1"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Clear career path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Personalized learning recommendation</a:t>
            </a:r>
            <a:r>
              <a:rPr lang="en-GB" sz="1500">
                <a:solidFill>
                  <a:srgbClr val="73F7AB"/>
                </a:solidFill>
              </a:rPr>
              <a:t>s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Time-to-readiness estimate</a:t>
            </a:r>
            <a:r>
              <a:rPr lang="en-GB" sz="1500">
                <a:solidFill>
                  <a:srgbClr val="73F7AB"/>
                </a:solidFill>
              </a:rPr>
              <a:t>s</a:t>
            </a:r>
            <a:endParaRPr sz="15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500">
                <a:solidFill>
                  <a:srgbClr val="73F7AB"/>
                </a:solidFill>
              </a:rPr>
            </a:br>
            <a:r>
              <a:rPr b="1" lang="en-GB" sz="1500">
                <a:solidFill>
                  <a:srgbClr val="73F7AB"/>
                </a:solidFill>
              </a:rPr>
              <a:t>✅ For HR/Managers:</a:t>
            </a:r>
            <a:endParaRPr b="1"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Data-driven talent development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Scalable to 1000+ employees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Real-time skill gap visibility</a:t>
            </a:r>
            <a:endParaRPr sz="15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3F7AB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572000" y="1152475"/>
            <a:ext cx="4458300" cy="32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-GB" sz="1500">
                <a:solidFill>
                  <a:srgbClr val="73F7AB"/>
                </a:solidFill>
              </a:rPr>
            </a:br>
            <a:r>
              <a:rPr b="1" lang="en-GB" sz="1500">
                <a:solidFill>
                  <a:srgbClr val="73F7AB"/>
                </a:solidFill>
              </a:rPr>
              <a:t>✅ For </a:t>
            </a:r>
            <a:r>
              <a:rPr b="1" lang="en-GB" sz="1500">
                <a:solidFill>
                  <a:srgbClr val="73F7AB"/>
                </a:solidFill>
              </a:rPr>
              <a:t>Organization</a:t>
            </a:r>
            <a:r>
              <a:rPr b="1" lang="en-GB" sz="1500">
                <a:solidFill>
                  <a:srgbClr val="73F7AB"/>
                </a:solidFill>
              </a:rPr>
              <a:t>:</a:t>
            </a:r>
            <a:endParaRPr b="1"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Improved employee retentio</a:t>
            </a:r>
            <a:r>
              <a:rPr lang="en-GB" sz="1500">
                <a:solidFill>
                  <a:srgbClr val="73F7AB"/>
                </a:solidFill>
              </a:rPr>
              <a:t>n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Faster skill development</a:t>
            </a:r>
            <a:endParaRPr sz="1500">
              <a:solidFill>
                <a:srgbClr val="73F7AB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500"/>
              <a:buChar char="-"/>
            </a:pPr>
            <a:r>
              <a:rPr lang="en-GB" sz="1500">
                <a:solidFill>
                  <a:srgbClr val="73F7AB"/>
                </a:solidFill>
              </a:rPr>
              <a:t>Better resource planning</a:t>
            </a:r>
            <a:endParaRPr sz="1500">
              <a:solidFill>
                <a:srgbClr val="73F7AB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Security</a:t>
            </a:r>
            <a:endParaRPr b="1">
              <a:solidFill>
                <a:srgbClr val="73F7AB"/>
              </a:solidFill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b="1" lang="en-GB">
                <a:solidFill>
                  <a:srgbClr val="73F7AB"/>
                </a:solidFill>
              </a:rPr>
              <a:t>Meets modern security best practices</a:t>
            </a:r>
            <a:br>
              <a:rPr b="1" lang="en-GB">
                <a:solidFill>
                  <a:srgbClr val="73F7AB"/>
                </a:solidFill>
              </a:rPr>
            </a:br>
            <a:endParaRPr b="1">
              <a:solidFill>
                <a:srgbClr val="73F7AB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73F7AB"/>
              </a:buClr>
              <a:buSzPts val="1800"/>
              <a:buChar char="-"/>
            </a:pPr>
            <a:r>
              <a:rPr b="1" lang="en-GB">
                <a:solidFill>
                  <a:srgbClr val="73F7AB"/>
                </a:solidFill>
              </a:rPr>
              <a:t>Ready for enterprise security standards</a:t>
            </a:r>
            <a:br>
              <a:rPr b="1" lang="en-GB">
                <a:solidFill>
                  <a:srgbClr val="73F7AB"/>
                </a:solidFill>
              </a:rPr>
            </a:br>
            <a:r>
              <a:rPr b="1" lang="en-GB">
                <a:solidFill>
                  <a:srgbClr val="73F7AB"/>
                </a:solidFill>
              </a:rPr>
              <a:t>-&gt; Can be deployed safely in Škoda's cloud</a:t>
            </a:r>
            <a:endParaRPr b="1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8100" y="1762250"/>
            <a:ext cx="3887816" cy="8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548950" y="3068475"/>
            <a:ext cx="44319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73F7AB"/>
                </a:solidFill>
              </a:rPr>
              <a:t>1-Click-Install: `docker-compose up`</a:t>
            </a:r>
            <a:endParaRPr b="1" sz="1800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73F7AB"/>
                </a:solidFill>
              </a:rPr>
              <a:t>DEMO</a:t>
            </a:r>
            <a:endParaRPr b="1">
              <a:solidFill>
                <a:srgbClr val="73F7A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